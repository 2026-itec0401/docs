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image" Target="../media/image-5-7.png"/><Relationship Id="rId8" Type="http://schemas.openxmlformats.org/officeDocument/2006/relationships/image" Target="../media/image-5-8.png"/><Relationship Id="rId9" Type="http://schemas.openxmlformats.org/officeDocument/2006/relationships/image" Target="../media/image-5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image" Target="../media/image-10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3498DB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71600" y="914400"/>
            <a:ext cx="640080" cy="640080"/>
          </a:xfrm>
          <a:prstGeom prst="rect">
            <a:avLst/>
          </a:prstGeom>
        </p:spPr>
      </p:pic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94560" y="777240"/>
            <a:ext cx="502920" cy="502920"/>
          </a:xfrm>
          <a:prstGeom prst="rect">
            <a:avLst/>
          </a:prstGeom>
        </p:spPr>
      </p:pic>
      <p:pic>
        <p:nvPicPr>
          <p:cNvPr id="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34640" y="960120"/>
            <a:ext cx="502920" cy="502920"/>
          </a:xfrm>
          <a:prstGeom prst="rect">
            <a:avLst/>
          </a:prstGeom>
        </p:spPr>
      </p:pic>
      <p:sp>
        <p:nvSpPr>
          <p:cNvPr id="6" name="Text 1"/>
          <p:cNvSpPr/>
          <p:nvPr/>
        </p:nvSpPr>
        <p:spPr>
          <a:xfrm>
            <a:off x="731520" y="1645920"/>
            <a:ext cx="7680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IoT-based Household Sound Recognition</a:t>
            </a:r>
            <a:endParaRPr lang="en-US" sz="26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and Alert System for the Deaf and Hard of Hearing</a:t>
            </a:r>
            <a:endParaRPr lang="en-US" sz="2600" dirty="0"/>
          </a:p>
        </p:txBody>
      </p:sp>
      <p:sp>
        <p:nvSpPr>
          <p:cNvPr id="7" name="Text 2"/>
          <p:cNvSpPr/>
          <p:nvPr/>
        </p:nvSpPr>
        <p:spPr>
          <a:xfrm>
            <a:off x="731520" y="288036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498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청각장애인을 위한 가정용 환경음 인식 IoT 알림 시스템</a:t>
            </a:r>
            <a:endParaRPr lang="en-US" sz="1600" dirty="0"/>
          </a:p>
        </p:txBody>
      </p:sp>
      <p:sp>
        <p:nvSpPr>
          <p:cNvPr id="8" name="Shape 3"/>
          <p:cNvSpPr/>
          <p:nvPr/>
        </p:nvSpPr>
        <p:spPr>
          <a:xfrm>
            <a:off x="731520" y="3474720"/>
            <a:ext cx="2743200" cy="27432"/>
          </a:xfrm>
          <a:prstGeom prst="rect">
            <a:avLst/>
          </a:prstGeom>
          <a:solidFill>
            <a:srgbClr val="3498DB"/>
          </a:solidFill>
          <a:ln/>
        </p:spPr>
      </p:sp>
      <p:sp>
        <p:nvSpPr>
          <p:cNvPr id="9" name="Text 4"/>
          <p:cNvSpPr/>
          <p:nvPr/>
        </p:nvSpPr>
        <p:spPr>
          <a:xfrm>
            <a:off x="731520" y="3657600"/>
            <a:ext cx="7315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#:  7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Mentor:  TBD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Kyungpook National University, School of Computer Science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F7F9F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77240"/>
            <a:ext cx="9144000" cy="36576"/>
          </a:xfrm>
          <a:prstGeom prst="rect">
            <a:avLst/>
          </a:prstGeom>
          <a:solidFill>
            <a:srgbClr val="3498DB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914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Problem: Sound = Survival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4773168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청각장애인을 위한 가정용 환경음 인식 IoT 알림 시스템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365760" y="1051560"/>
            <a:ext cx="2651760" cy="1920240"/>
          </a:xfrm>
          <a:prstGeom prst="rect">
            <a:avLst/>
          </a:prstGeom>
          <a:solidFill>
            <a:srgbClr val="F7F9FC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234440"/>
            <a:ext cx="411480" cy="41148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005840" y="109728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DC262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2.2×</a:t>
            </a:r>
            <a:endParaRPr lang="en-US" sz="3600" dirty="0"/>
          </a:p>
        </p:txBody>
      </p:sp>
      <p:sp>
        <p:nvSpPr>
          <p:cNvPr id="10" name="Text 7"/>
          <p:cNvSpPr/>
          <p:nvPr/>
        </p:nvSpPr>
        <p:spPr>
          <a:xfrm>
            <a:off x="594360" y="1828800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higher fatality rate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working alarms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(NFPA, 2023)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3246120" y="1051560"/>
            <a:ext cx="2651760" cy="1920240"/>
          </a:xfrm>
          <a:prstGeom prst="rect">
            <a:avLst/>
          </a:prstGeom>
          <a:solidFill>
            <a:srgbClr val="F7F9FC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29000" y="1234440"/>
            <a:ext cx="411480" cy="41148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886200" y="109728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85%</a:t>
            </a:r>
            <a:endParaRPr lang="en-US" sz="3600" dirty="0"/>
          </a:p>
        </p:txBody>
      </p:sp>
      <p:sp>
        <p:nvSpPr>
          <p:cNvPr id="14" name="Text 10"/>
          <p:cNvSpPr/>
          <p:nvPr/>
        </p:nvSpPr>
        <p:spPr>
          <a:xfrm>
            <a:off x="3474720" y="1828800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deaf individuals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 aged 65+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(MOHW, 2024)</a:t>
            </a:r>
            <a:endParaRPr lang="en-US" sz="1050" dirty="0"/>
          </a:p>
        </p:txBody>
      </p:sp>
      <p:sp>
        <p:nvSpPr>
          <p:cNvPr id="15" name="Shape 11"/>
          <p:cNvSpPr/>
          <p:nvPr/>
        </p:nvSpPr>
        <p:spPr>
          <a:xfrm>
            <a:off x="6126480" y="1051560"/>
            <a:ext cx="2651760" cy="1920240"/>
          </a:xfrm>
          <a:prstGeom prst="rect">
            <a:avLst/>
          </a:prstGeom>
          <a:solidFill>
            <a:srgbClr val="F7F9FC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9360" y="1234440"/>
            <a:ext cx="411480" cy="41148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766560" y="109728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B579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26.6%</a:t>
            </a:r>
            <a:endParaRPr lang="en-US" sz="3600" dirty="0"/>
          </a:p>
        </p:txBody>
      </p:sp>
      <p:sp>
        <p:nvSpPr>
          <p:cNvPr id="18" name="Text 13"/>
          <p:cNvSpPr/>
          <p:nvPr/>
        </p:nvSpPr>
        <p:spPr>
          <a:xfrm>
            <a:off x="6355080" y="1828800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disabled people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alone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(MOHW, 2023)</a:t>
            </a:r>
            <a:endParaRPr lang="en-US" sz="1050" dirty="0"/>
          </a:p>
        </p:txBody>
      </p:sp>
      <p:sp>
        <p:nvSpPr>
          <p:cNvPr id="19" name="Shape 14"/>
          <p:cNvSpPr/>
          <p:nvPr/>
        </p:nvSpPr>
        <p:spPr>
          <a:xfrm>
            <a:off x="365760" y="3246120"/>
            <a:ext cx="8412480" cy="1234440"/>
          </a:xfrm>
          <a:prstGeom prst="rect">
            <a:avLst/>
          </a:prstGeom>
          <a:solidFill>
            <a:srgbClr val="FEF2F2"/>
          </a:solidFill>
          <a:ln/>
        </p:spPr>
      </p:sp>
      <p:sp>
        <p:nvSpPr>
          <p:cNvPr id="20" name="Text 15"/>
          <p:cNvSpPr/>
          <p:nvPr/>
        </p:nvSpPr>
        <p:spPr>
          <a:xfrm>
            <a:off x="594360" y="3337560"/>
            <a:ext cx="7955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deaf individuals, standard fire alarms are effectively non-existent.</a:t>
            </a:r>
            <a:endParaRPr lang="en-US" sz="1300" dirty="0"/>
          </a:p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85% are elderly, 26.6% live alone — no one to alert them in emergencies.</a:t>
            </a:r>
            <a:endParaRPr lang="en-US" sz="1300" dirty="0"/>
          </a:p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Survey: 355 deaf respondents reported frequent failure to perceive environmental sounds (KRA, 2023)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F7F9F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77240"/>
            <a:ext cx="9144000" cy="36576"/>
          </a:xfrm>
          <a:prstGeom prst="rect">
            <a:avLst/>
          </a:prstGeom>
          <a:solidFill>
            <a:srgbClr val="3498DB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914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Why Now: Converging Evidence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4773168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청각장애인을 위한 가정용 환경음 인식 IoT 알림 시스템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365760" y="1051560"/>
            <a:ext cx="2651760" cy="3474720"/>
          </a:xfrm>
          <a:prstGeom prst="rect">
            <a:avLst/>
          </a:prstGeom>
          <a:solidFill>
            <a:srgbClr val="F7F9FC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65760" y="1051560"/>
            <a:ext cx="2651760" cy="54864"/>
          </a:xfrm>
          <a:prstGeom prst="rect">
            <a:avLst/>
          </a:prstGeom>
          <a:solidFill>
            <a:srgbClr val="0D9488"/>
          </a:solidFill>
          <a:ln/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280160"/>
            <a:ext cx="365760" cy="36576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097280" y="128016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Policy Signal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640080" y="1783080"/>
            <a:ext cx="2194560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Seoul City launched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'Visual Fire Alarm for Deaf'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in 2025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Gov't recognizes the gap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but no IoT solution deployed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Incheon launched 'Light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Doorbell' for deaf (2025)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3246120" y="1051560"/>
            <a:ext cx="2651760" cy="3474720"/>
          </a:xfrm>
          <a:prstGeom prst="rect">
            <a:avLst/>
          </a:prstGeom>
          <a:solidFill>
            <a:srgbClr val="F7F9FC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3246120" y="1051560"/>
            <a:ext cx="2651760" cy="54864"/>
          </a:xfrm>
          <a:prstGeom prst="rect">
            <a:avLst/>
          </a:prstGeom>
          <a:solidFill>
            <a:srgbClr val="2B5797"/>
          </a:solidFill>
          <a:ln/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20440" y="1280160"/>
            <a:ext cx="365760" cy="36576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3977640" y="128016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Research Evidence</a:t>
            </a:r>
            <a:endParaRPr lang="en-US" sz="1400" dirty="0"/>
          </a:p>
        </p:txBody>
      </p:sp>
      <p:sp>
        <p:nvSpPr>
          <p:cNvPr id="16" name="Text 12"/>
          <p:cNvSpPr/>
          <p:nvPr/>
        </p:nvSpPr>
        <p:spPr>
          <a:xfrm>
            <a:off x="3520440" y="1783080"/>
            <a:ext cx="2194560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355-person survey: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frequent sound non-detection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(KR Rehab Journal, 2023)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FGI study: #1 daily risk =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'unable to hear danger'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(KR Disability Welfare, 2023)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Vibration alarm: 90~100%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wake rate (Gallaudet, 2006)</a:t>
            </a:r>
            <a:endParaRPr lang="en-US" sz="1050" dirty="0"/>
          </a:p>
        </p:txBody>
      </p:sp>
      <p:sp>
        <p:nvSpPr>
          <p:cNvPr id="17" name="Shape 13"/>
          <p:cNvSpPr/>
          <p:nvPr/>
        </p:nvSpPr>
        <p:spPr>
          <a:xfrm>
            <a:off x="6126480" y="1051560"/>
            <a:ext cx="2651760" cy="3474720"/>
          </a:xfrm>
          <a:prstGeom prst="rect">
            <a:avLst/>
          </a:prstGeom>
          <a:solidFill>
            <a:srgbClr val="F7F9FC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6126480" y="1051560"/>
            <a:ext cx="2651760" cy="54864"/>
          </a:xfrm>
          <a:prstGeom prst="rect">
            <a:avLst/>
          </a:prstGeom>
          <a:solidFill>
            <a:srgbClr val="DC2626"/>
          </a:solidFill>
          <a:ln/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0" y="1280160"/>
            <a:ext cx="365760" cy="36576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6858000" y="128016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Market Gap</a:t>
            </a:r>
            <a:endParaRPr lang="en-US" sz="1400" dirty="0"/>
          </a:p>
        </p:txBody>
      </p:sp>
      <p:sp>
        <p:nvSpPr>
          <p:cNvPr id="21" name="Text 16"/>
          <p:cNvSpPr/>
          <p:nvPr/>
        </p:nvSpPr>
        <p:spPr>
          <a:xfrm>
            <a:off x="6400800" y="1783080"/>
            <a:ext cx="2194560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AI-based household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sound IoT system in Korea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Google/Earzz: not optimized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Korean home sounds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(intercom, rice cooker, etc.)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Earzz: €499, not available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Korea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F7F9F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77240"/>
            <a:ext cx="9144000" cy="36576"/>
          </a:xfrm>
          <a:prstGeom prst="rect">
            <a:avLst/>
          </a:prstGeom>
          <a:solidFill>
            <a:srgbClr val="3498DB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914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Competitive Landscape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4773168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청각장애인을 위한 가정용 환경음 인식 IoT 알림 시스템</a:t>
            </a:r>
            <a:endParaRPr lang="en-US" sz="9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51560"/>
          <a:ext cx="8229600" cy="2926080"/>
        </p:xfrm>
        <a:graphic>
          <a:graphicData uri="http://schemas.openxmlformats.org/drawingml/2006/table">
            <a:tbl>
              <a:tblPr/>
              <a:tblGrid>
                <a:gridCol w="1463040"/>
                <a:gridCol w="1188720"/>
                <a:gridCol w="1097280"/>
                <a:gridCol w="1097280"/>
                <a:gridCol w="1097280"/>
                <a:gridCol w="1097280"/>
              </a:tblGrid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Solution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579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Approach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579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Multi-room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579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 Classify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579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KR Sounds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579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LED Alert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579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Google Sound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Notifications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Phone App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Sorisosan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(Korea)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Smart Band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△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Earzz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(UK)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HW Device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iOS/Android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Built-in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OS Feature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△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Ours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(Planned)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IoT + AI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457200" y="4114800"/>
            <a:ext cx="8229600" cy="457200"/>
          </a:xfrm>
          <a:prstGeom prst="rect">
            <a:avLst/>
          </a:prstGeom>
          <a:solidFill>
            <a:srgbClr val="FEF3C7"/>
          </a:solidFill>
          <a:ln/>
        </p:spPr>
      </p:sp>
      <p:sp>
        <p:nvSpPr>
          <p:cNvPr id="9" name="Text 6"/>
          <p:cNvSpPr/>
          <p:nvPr/>
        </p:nvSpPr>
        <p:spPr>
          <a:xfrm>
            <a:off x="457200" y="41148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AI-based household sound classification IoT system exists in Korea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F7F9F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77240"/>
            <a:ext cx="9144000" cy="36576"/>
          </a:xfrm>
          <a:prstGeom prst="rect">
            <a:avLst/>
          </a:prstGeom>
          <a:solidFill>
            <a:srgbClr val="3498DB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914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System Overview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4773168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청각장애인을 위한 가정용 환경음 인식 IoT 알림 시스템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1051560"/>
            <a:ext cx="2468880" cy="3291840"/>
          </a:xfrm>
          <a:prstGeom prst="rect">
            <a:avLst/>
          </a:prstGeom>
          <a:solidFill>
            <a:srgbClr val="EEF2F7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65760" y="114300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B579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IoT Device (per room)</a:t>
            </a:r>
            <a:endParaRPr lang="en-US" sz="110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645920"/>
            <a:ext cx="274320" cy="27432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868680" y="164592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Raspberry Pi 4/5</a:t>
            </a:r>
            <a:endParaRPr lang="en-US" sz="100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103120"/>
            <a:ext cx="274320" cy="27432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868680" y="210312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USB Microphone</a:t>
            </a:r>
            <a:endParaRPr lang="en-US" sz="1000" dirty="0"/>
          </a:p>
        </p:txBody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2560320"/>
            <a:ext cx="274320" cy="27432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868680" y="256032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Model (TFLite)</a:t>
            </a:r>
            <a:endParaRPr lang="en-US" sz="1000" dirty="0"/>
          </a:p>
        </p:txBody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" y="3017520"/>
            <a:ext cx="274320" cy="274320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868680" y="301752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LED Strip (WS2812B)</a:t>
            </a:r>
            <a:endParaRPr lang="en-US" sz="1000" dirty="0"/>
          </a:p>
        </p:txBody>
      </p:sp>
      <p:pic>
        <p:nvPicPr>
          <p:cNvPr id="1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2920" y="3474720"/>
            <a:ext cx="274320" cy="274320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868680" y="347472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Vibration Motor</a:t>
            </a:r>
            <a:endParaRPr lang="en-US" sz="1000" dirty="0"/>
          </a:p>
        </p:txBody>
      </p:sp>
      <p:sp>
        <p:nvSpPr>
          <p:cNvPr id="19" name="Text 12"/>
          <p:cNvSpPr/>
          <p:nvPr/>
        </p:nvSpPr>
        <p:spPr>
          <a:xfrm>
            <a:off x="365760" y="388620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× N units (Kitchen, Living, Bedroom)</a:t>
            </a:r>
            <a:endParaRPr lang="en-US" sz="850" dirty="0"/>
          </a:p>
        </p:txBody>
      </p:sp>
      <p:sp>
        <p:nvSpPr>
          <p:cNvPr id="20" name="Shape 13"/>
          <p:cNvSpPr/>
          <p:nvPr/>
        </p:nvSpPr>
        <p:spPr>
          <a:xfrm>
            <a:off x="2834640" y="1737360"/>
            <a:ext cx="914400" cy="36576"/>
          </a:xfrm>
          <a:prstGeom prst="rect">
            <a:avLst/>
          </a:prstGeom>
          <a:solidFill>
            <a:srgbClr val="3498DB"/>
          </a:solidFill>
          <a:ln/>
        </p:spPr>
      </p:sp>
      <p:sp>
        <p:nvSpPr>
          <p:cNvPr id="21" name="Text 14"/>
          <p:cNvSpPr/>
          <p:nvPr/>
        </p:nvSpPr>
        <p:spPr>
          <a:xfrm>
            <a:off x="3611880" y="1600200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498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200" dirty="0"/>
          </a:p>
        </p:txBody>
      </p:sp>
      <p:sp>
        <p:nvSpPr>
          <p:cNvPr id="22" name="Text 15"/>
          <p:cNvSpPr/>
          <p:nvPr/>
        </p:nvSpPr>
        <p:spPr>
          <a:xfrm>
            <a:off x="2834640" y="146304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498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MQTT</a:t>
            </a:r>
            <a:endParaRPr lang="en-US" sz="900" dirty="0"/>
          </a:p>
        </p:txBody>
      </p:sp>
      <p:sp>
        <p:nvSpPr>
          <p:cNvPr id="23" name="Shape 16"/>
          <p:cNvSpPr/>
          <p:nvPr/>
        </p:nvSpPr>
        <p:spPr>
          <a:xfrm>
            <a:off x="2834640" y="3108960"/>
            <a:ext cx="914400" cy="36576"/>
          </a:xfrm>
          <a:prstGeom prst="rect">
            <a:avLst/>
          </a:prstGeom>
          <a:solidFill>
            <a:srgbClr val="3498DB"/>
          </a:solidFill>
          <a:ln/>
        </p:spPr>
      </p:sp>
      <p:sp>
        <p:nvSpPr>
          <p:cNvPr id="24" name="Text 17"/>
          <p:cNvSpPr/>
          <p:nvPr/>
        </p:nvSpPr>
        <p:spPr>
          <a:xfrm>
            <a:off x="3611880" y="2971800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498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200" dirty="0"/>
          </a:p>
        </p:txBody>
      </p:sp>
      <p:sp>
        <p:nvSpPr>
          <p:cNvPr id="25" name="Text 18"/>
          <p:cNvSpPr/>
          <p:nvPr/>
        </p:nvSpPr>
        <p:spPr>
          <a:xfrm>
            <a:off x="2834640" y="283464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498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Firebase</a:t>
            </a:r>
            <a:endParaRPr lang="en-US" sz="900" dirty="0"/>
          </a:p>
        </p:txBody>
      </p:sp>
      <p:sp>
        <p:nvSpPr>
          <p:cNvPr id="26" name="Shape 19"/>
          <p:cNvSpPr/>
          <p:nvPr/>
        </p:nvSpPr>
        <p:spPr>
          <a:xfrm>
            <a:off x="3794760" y="1051560"/>
            <a:ext cx="1920240" cy="3291840"/>
          </a:xfrm>
          <a:prstGeom prst="rect">
            <a:avLst/>
          </a:prstGeom>
          <a:solidFill>
            <a:srgbClr val="EEF2F7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7" name="Text 20"/>
          <p:cNvSpPr/>
          <p:nvPr/>
        </p:nvSpPr>
        <p:spPr>
          <a:xfrm>
            <a:off x="3886200" y="114300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Cloud Services</a:t>
            </a:r>
            <a:endParaRPr lang="en-US" sz="1100" dirty="0"/>
          </a:p>
        </p:txBody>
      </p:sp>
      <p:pic>
        <p:nvPicPr>
          <p:cNvPr id="28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160520" y="1828800"/>
            <a:ext cx="365760" cy="365760"/>
          </a:xfrm>
          <a:prstGeom prst="rect">
            <a:avLst/>
          </a:prstGeom>
        </p:spPr>
      </p:pic>
      <p:sp>
        <p:nvSpPr>
          <p:cNvPr id="29" name="Text 21"/>
          <p:cNvSpPr/>
          <p:nvPr/>
        </p:nvSpPr>
        <p:spPr>
          <a:xfrm>
            <a:off x="4617720" y="1783080"/>
            <a:ext cx="1005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MQTT Broker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(Mosquitto)</a:t>
            </a:r>
            <a:endParaRPr lang="en-US" sz="950" dirty="0"/>
          </a:p>
        </p:txBody>
      </p:sp>
      <p:pic>
        <p:nvPicPr>
          <p:cNvPr id="30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160520" y="2926080"/>
            <a:ext cx="365760" cy="365760"/>
          </a:xfrm>
          <a:prstGeom prst="rect">
            <a:avLst/>
          </a:prstGeom>
        </p:spPr>
      </p:pic>
      <p:sp>
        <p:nvSpPr>
          <p:cNvPr id="31" name="Text 22"/>
          <p:cNvSpPr/>
          <p:nvPr/>
        </p:nvSpPr>
        <p:spPr>
          <a:xfrm>
            <a:off x="4617720" y="2880360"/>
            <a:ext cx="1005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Firebase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(FCM + RT DB)</a:t>
            </a:r>
            <a:endParaRPr lang="en-US" sz="950" dirty="0"/>
          </a:p>
        </p:txBody>
      </p:sp>
      <p:sp>
        <p:nvSpPr>
          <p:cNvPr id="32" name="Shape 23"/>
          <p:cNvSpPr/>
          <p:nvPr/>
        </p:nvSpPr>
        <p:spPr>
          <a:xfrm>
            <a:off x="5806440" y="1737360"/>
            <a:ext cx="914400" cy="36576"/>
          </a:xfrm>
          <a:prstGeom prst="rect">
            <a:avLst/>
          </a:prstGeom>
          <a:solidFill>
            <a:srgbClr val="3498DB"/>
          </a:solidFill>
          <a:ln/>
        </p:spPr>
      </p:sp>
      <p:sp>
        <p:nvSpPr>
          <p:cNvPr id="33" name="Text 24"/>
          <p:cNvSpPr/>
          <p:nvPr/>
        </p:nvSpPr>
        <p:spPr>
          <a:xfrm>
            <a:off x="6583680" y="1600200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498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200" dirty="0"/>
          </a:p>
        </p:txBody>
      </p:sp>
      <p:sp>
        <p:nvSpPr>
          <p:cNvPr id="34" name="Text 25"/>
          <p:cNvSpPr/>
          <p:nvPr/>
        </p:nvSpPr>
        <p:spPr>
          <a:xfrm>
            <a:off x="5806440" y="146304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498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</a:t>
            </a:r>
            <a:endParaRPr lang="en-US" sz="900" dirty="0"/>
          </a:p>
        </p:txBody>
      </p:sp>
      <p:sp>
        <p:nvSpPr>
          <p:cNvPr id="35" name="Shape 26"/>
          <p:cNvSpPr/>
          <p:nvPr/>
        </p:nvSpPr>
        <p:spPr>
          <a:xfrm>
            <a:off x="5806440" y="3108960"/>
            <a:ext cx="914400" cy="36576"/>
          </a:xfrm>
          <a:prstGeom prst="rect">
            <a:avLst/>
          </a:prstGeom>
          <a:solidFill>
            <a:srgbClr val="3498DB"/>
          </a:solidFill>
          <a:ln/>
        </p:spPr>
      </p:sp>
      <p:sp>
        <p:nvSpPr>
          <p:cNvPr id="36" name="Text 27"/>
          <p:cNvSpPr/>
          <p:nvPr/>
        </p:nvSpPr>
        <p:spPr>
          <a:xfrm>
            <a:off x="6583680" y="2971800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498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200" dirty="0"/>
          </a:p>
        </p:txBody>
      </p:sp>
      <p:sp>
        <p:nvSpPr>
          <p:cNvPr id="37" name="Text 28"/>
          <p:cNvSpPr/>
          <p:nvPr/>
        </p:nvSpPr>
        <p:spPr>
          <a:xfrm>
            <a:off x="5806440" y="283464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498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</a:t>
            </a:r>
            <a:endParaRPr lang="en-US" sz="900" dirty="0"/>
          </a:p>
        </p:txBody>
      </p:sp>
      <p:sp>
        <p:nvSpPr>
          <p:cNvPr id="38" name="Shape 29"/>
          <p:cNvSpPr/>
          <p:nvPr/>
        </p:nvSpPr>
        <p:spPr>
          <a:xfrm>
            <a:off x="6766560" y="1051560"/>
            <a:ext cx="2103120" cy="3291840"/>
          </a:xfrm>
          <a:prstGeom prst="rect">
            <a:avLst/>
          </a:prstGeom>
          <a:solidFill>
            <a:srgbClr val="EEF2F7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39" name="Text 30"/>
          <p:cNvSpPr/>
          <p:nvPr/>
        </p:nvSpPr>
        <p:spPr>
          <a:xfrm>
            <a:off x="6858000" y="114300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B579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User Interface</a:t>
            </a:r>
            <a:endParaRPr lang="en-US" sz="1100" dirty="0"/>
          </a:p>
        </p:txBody>
      </p:sp>
      <p:pic>
        <p:nvPicPr>
          <p:cNvPr id="40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132320" y="1828800"/>
            <a:ext cx="365760" cy="365760"/>
          </a:xfrm>
          <a:prstGeom prst="rect">
            <a:avLst/>
          </a:prstGeom>
        </p:spPr>
      </p:pic>
      <p:sp>
        <p:nvSpPr>
          <p:cNvPr id="41" name="Text 31"/>
          <p:cNvSpPr/>
          <p:nvPr/>
        </p:nvSpPr>
        <p:spPr>
          <a:xfrm>
            <a:off x="7589520" y="1783080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Smartphone App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(Flutter)</a:t>
            </a:r>
            <a:endParaRPr lang="en-US" sz="950" dirty="0"/>
          </a:p>
        </p:txBody>
      </p:sp>
      <p:pic>
        <p:nvPicPr>
          <p:cNvPr id="42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132320" y="2926080"/>
            <a:ext cx="365760" cy="365760"/>
          </a:xfrm>
          <a:prstGeom prst="rect">
            <a:avLst/>
          </a:prstGeom>
        </p:spPr>
      </p:pic>
      <p:sp>
        <p:nvSpPr>
          <p:cNvPr id="43" name="Text 32"/>
          <p:cNvSpPr/>
          <p:nvPr/>
        </p:nvSpPr>
        <p:spPr>
          <a:xfrm>
            <a:off x="7589520" y="2880360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Dashboard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(React)</a:t>
            </a:r>
            <a:endParaRPr lang="en-US" sz="950" dirty="0"/>
          </a:p>
        </p:txBody>
      </p:sp>
      <p:sp>
        <p:nvSpPr>
          <p:cNvPr id="44" name="Text 33"/>
          <p:cNvSpPr/>
          <p:nvPr/>
        </p:nvSpPr>
        <p:spPr>
          <a:xfrm>
            <a:off x="274320" y="4251960"/>
            <a:ext cx="8595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B57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Sound  →  AI Classification (on-device)  →  LED + Push Alert  →  User Notification</a:t>
            </a:r>
            <a:endParaRPr lang="en-US" sz="1100" dirty="0"/>
          </a:p>
        </p:txBody>
      </p:sp>
      <p:sp>
        <p:nvSpPr>
          <p:cNvPr id="45" name="Text 34"/>
          <p:cNvSpPr/>
          <p:nvPr/>
        </p:nvSpPr>
        <p:spPr>
          <a:xfrm>
            <a:off x="274320" y="4480560"/>
            <a:ext cx="8595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RPi devices subscribe to MQTT — when one detects sound, every room's LED/vibration activates simultaneously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F7F9F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77240"/>
            <a:ext cx="9144000" cy="36576"/>
          </a:xfrm>
          <a:prstGeom prst="rect">
            <a:avLst/>
          </a:prstGeom>
          <a:solidFill>
            <a:srgbClr val="3498DB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914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AI Classification Pipeline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4773168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청각장애인을 위한 가정용 환경음 인식 IoT 알림 시스템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1143000"/>
            <a:ext cx="1234440" cy="1463040"/>
          </a:xfrm>
          <a:prstGeom prst="rect">
            <a:avLst/>
          </a:prstGeom>
          <a:solidFill>
            <a:srgbClr val="F7F9FC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1143000"/>
            <a:ext cx="1234440" cy="45720"/>
          </a:xfrm>
          <a:prstGeom prst="rect">
            <a:avLst/>
          </a:prstGeom>
          <a:solidFill>
            <a:srgbClr val="2B5797"/>
          </a:solidFill>
          <a:ln/>
        </p:spPr>
      </p:sp>
      <p:sp>
        <p:nvSpPr>
          <p:cNvPr id="9" name="Text 7"/>
          <p:cNvSpPr/>
          <p:nvPr/>
        </p:nvSpPr>
        <p:spPr>
          <a:xfrm>
            <a:off x="320040" y="1280160"/>
            <a:ext cx="1143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USB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Microphone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20040" y="1920240"/>
            <a:ext cx="1143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Audio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508760" y="1554480"/>
            <a:ext cx="228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3498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1737360" y="1143000"/>
            <a:ext cx="1234440" cy="1463040"/>
          </a:xfrm>
          <a:prstGeom prst="rect">
            <a:avLst/>
          </a:prstGeom>
          <a:solidFill>
            <a:srgbClr val="F7F9FC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1737360" y="1143000"/>
            <a:ext cx="1234440" cy="45720"/>
          </a:xfrm>
          <a:prstGeom prst="rect">
            <a:avLst/>
          </a:prstGeom>
          <a:solidFill>
            <a:srgbClr val="2B5797"/>
          </a:solidFill>
          <a:ln/>
        </p:spPr>
      </p:sp>
      <p:sp>
        <p:nvSpPr>
          <p:cNvPr id="14" name="Text 12"/>
          <p:cNvSpPr/>
          <p:nvPr/>
        </p:nvSpPr>
        <p:spPr>
          <a:xfrm>
            <a:off x="1783080" y="1280160"/>
            <a:ext cx="1143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Pre-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processing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783080" y="1920240"/>
            <a:ext cx="1143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16kHz Mono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Resampling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2971800" y="1554480"/>
            <a:ext cx="228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3498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3200400" y="1143000"/>
            <a:ext cx="1234440" cy="1463040"/>
          </a:xfrm>
          <a:prstGeom prst="rect">
            <a:avLst/>
          </a:prstGeom>
          <a:solidFill>
            <a:srgbClr val="F7F9FC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200400" y="1143000"/>
            <a:ext cx="1234440" cy="45720"/>
          </a:xfrm>
          <a:prstGeom prst="rect">
            <a:avLst/>
          </a:prstGeom>
          <a:solidFill>
            <a:srgbClr val="3498DB"/>
          </a:solidFill>
          <a:ln/>
        </p:spPr>
      </p:sp>
      <p:sp>
        <p:nvSpPr>
          <p:cNvPr id="19" name="Text 17"/>
          <p:cNvSpPr/>
          <p:nvPr/>
        </p:nvSpPr>
        <p:spPr>
          <a:xfrm>
            <a:off x="3246120" y="1280160"/>
            <a:ext cx="1143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Mel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Spectrogram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246120" y="1920240"/>
            <a:ext cx="1143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Time-Freq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Representation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4434840" y="1554480"/>
            <a:ext cx="228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3498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4663440" y="1143000"/>
            <a:ext cx="1234440" cy="1463040"/>
          </a:xfrm>
          <a:prstGeom prst="rect">
            <a:avLst/>
          </a:prstGeom>
          <a:solidFill>
            <a:srgbClr val="F7F9FC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663440" y="1143000"/>
            <a:ext cx="1234440" cy="4572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24" name="Text 22"/>
          <p:cNvSpPr/>
          <p:nvPr/>
        </p:nvSpPr>
        <p:spPr>
          <a:xfrm>
            <a:off x="4709160" y="1280160"/>
            <a:ext cx="1143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YAMNet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Extractor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709160" y="1920240"/>
            <a:ext cx="1143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Extraction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5897880" y="1554480"/>
            <a:ext cx="228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3498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6126480" y="1143000"/>
            <a:ext cx="1234440" cy="1463040"/>
          </a:xfrm>
          <a:prstGeom prst="rect">
            <a:avLst/>
          </a:prstGeom>
          <a:solidFill>
            <a:srgbClr val="F7F9FC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6126480" y="1143000"/>
            <a:ext cx="1234440" cy="4572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29" name="Text 27"/>
          <p:cNvSpPr/>
          <p:nvPr/>
        </p:nvSpPr>
        <p:spPr>
          <a:xfrm>
            <a:off x="6172200" y="1280160"/>
            <a:ext cx="1143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Custom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Classifier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6172200" y="1920240"/>
            <a:ext cx="1143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Fine-tuned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KR Sounds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7360920" y="1554480"/>
            <a:ext cx="228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3498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7589520" y="1143000"/>
            <a:ext cx="1234440" cy="1463040"/>
          </a:xfrm>
          <a:prstGeom prst="rect">
            <a:avLst/>
          </a:prstGeom>
          <a:solidFill>
            <a:srgbClr val="F7F9FC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7589520" y="1143000"/>
            <a:ext cx="1234440" cy="4572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34" name="Text 32"/>
          <p:cNvSpPr/>
          <p:nvPr/>
        </p:nvSpPr>
        <p:spPr>
          <a:xfrm>
            <a:off x="7635240" y="1280160"/>
            <a:ext cx="1143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Alert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Trigger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7635240" y="1920240"/>
            <a:ext cx="1143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 &gt;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Threshold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365760" y="2926080"/>
            <a:ext cx="4023360" cy="1554480"/>
          </a:xfrm>
          <a:prstGeom prst="rect">
            <a:avLst/>
          </a:prstGeom>
          <a:solidFill>
            <a:srgbClr val="EEF2F7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37" name="Text 35"/>
          <p:cNvSpPr/>
          <p:nvPr/>
        </p:nvSpPr>
        <p:spPr>
          <a:xfrm>
            <a:off x="502920" y="30175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B579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Model Training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502920" y="3383280"/>
            <a:ext cx="3749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Base: </a:t>
            </a:r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YAMNet (Google AudioSet, 521 classes)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Fine-tune: </a:t>
            </a:r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layers retrained on KR home sounds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Deploy: </a:t>
            </a:r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TFLite conversion → RPi on-device inference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Dataset: </a:t>
            </a:r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types, 2000+ samples (self-collected)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4754880" y="2926080"/>
            <a:ext cx="4023360" cy="1554480"/>
          </a:xfrm>
          <a:prstGeom prst="rect">
            <a:avLst/>
          </a:prstGeom>
          <a:solidFill>
            <a:srgbClr val="EEF2F7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40" name="Text 38"/>
          <p:cNvSpPr/>
          <p:nvPr/>
        </p:nvSpPr>
        <p:spPr>
          <a:xfrm>
            <a:off x="4892040" y="30175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C262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Target Accuracy</a:t>
            </a:r>
            <a:endParaRPr lang="en-US" sz="1300" dirty="0"/>
          </a:p>
        </p:txBody>
      </p:sp>
      <p:sp>
        <p:nvSpPr>
          <p:cNvPr id="41" name="Text 39"/>
          <p:cNvSpPr/>
          <p:nvPr/>
        </p:nvSpPr>
        <p:spPr>
          <a:xfrm>
            <a:off x="4892040" y="342900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Emergency (fire, gas)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7452360" y="34290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DC262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95%+</a:t>
            </a:r>
            <a:endParaRPr lang="en-US" sz="1200" dirty="0"/>
          </a:p>
        </p:txBody>
      </p:sp>
      <p:sp>
        <p:nvSpPr>
          <p:cNvPr id="43" name="Shape 41"/>
          <p:cNvSpPr/>
          <p:nvPr/>
        </p:nvSpPr>
        <p:spPr>
          <a:xfrm>
            <a:off x="4892040" y="3721608"/>
            <a:ext cx="3474720" cy="201168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44" name="Shape 42"/>
          <p:cNvSpPr/>
          <p:nvPr/>
        </p:nvSpPr>
        <p:spPr>
          <a:xfrm>
            <a:off x="4892040" y="3721608"/>
            <a:ext cx="3300984" cy="201168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45" name="Text 43"/>
          <p:cNvSpPr/>
          <p:nvPr/>
        </p:nvSpPr>
        <p:spPr>
          <a:xfrm>
            <a:off x="4892040" y="4023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(doorbell, baby, etc.)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7452360" y="402336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3498D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85%+</a:t>
            </a:r>
            <a:endParaRPr lang="en-US" sz="1200" dirty="0"/>
          </a:p>
        </p:txBody>
      </p:sp>
      <p:sp>
        <p:nvSpPr>
          <p:cNvPr id="47" name="Shape 45"/>
          <p:cNvSpPr/>
          <p:nvPr/>
        </p:nvSpPr>
        <p:spPr>
          <a:xfrm>
            <a:off x="4892040" y="4315968"/>
            <a:ext cx="3474720" cy="201168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48" name="Shape 46"/>
          <p:cNvSpPr/>
          <p:nvPr/>
        </p:nvSpPr>
        <p:spPr>
          <a:xfrm>
            <a:off x="4892040" y="4315968"/>
            <a:ext cx="2953512" cy="201168"/>
          </a:xfrm>
          <a:prstGeom prst="rect">
            <a:avLst/>
          </a:prstGeom>
          <a:solidFill>
            <a:srgbClr val="3498DB"/>
          </a:solidFill>
          <a:ln/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F7F9F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77240"/>
            <a:ext cx="9144000" cy="36576"/>
          </a:xfrm>
          <a:prstGeom prst="rect">
            <a:avLst/>
          </a:prstGeom>
          <a:solidFill>
            <a:srgbClr val="3498DB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914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Features &amp; Tech Stack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4773168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청각장애인을 위한 가정용 환경음 인식 IoT 알림 시스템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1051560"/>
            <a:ext cx="3931920" cy="1325880"/>
          </a:xfrm>
          <a:prstGeom prst="rect">
            <a:avLst/>
          </a:prstGeom>
          <a:solidFill>
            <a:srgbClr val="F7F9FC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57200" y="1051560"/>
            <a:ext cx="54864" cy="1325880"/>
          </a:xfrm>
          <a:prstGeom prst="rect">
            <a:avLst/>
          </a:prstGeom>
          <a:solidFill>
            <a:srgbClr val="2B5797"/>
          </a:solidFill>
          <a:ln/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234440"/>
            <a:ext cx="502920" cy="50292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371600" y="114300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AI Sound Classification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1371600" y="1508760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YAMNet fine-tuned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Korean household sounds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10+ types, on-device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4754880" y="1051560"/>
            <a:ext cx="3931920" cy="1325880"/>
          </a:xfrm>
          <a:prstGeom prst="rect">
            <a:avLst/>
          </a:prstGeom>
          <a:solidFill>
            <a:srgbClr val="F7F9FC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4754880" y="1051560"/>
            <a:ext cx="54864" cy="1325880"/>
          </a:xfrm>
          <a:prstGeom prst="rect">
            <a:avLst/>
          </a:prstGeom>
          <a:solidFill>
            <a:srgbClr val="F59E0B"/>
          </a:solidFill>
          <a:ln/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1234440"/>
            <a:ext cx="502920" cy="50292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5669280" y="114300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LED Visual Alert</a:t>
            </a:r>
            <a:endParaRPr lang="en-US" sz="1300" dirty="0"/>
          </a:p>
        </p:txBody>
      </p:sp>
      <p:sp>
        <p:nvSpPr>
          <p:cNvPr id="16" name="Text 12"/>
          <p:cNvSpPr/>
          <p:nvPr/>
        </p:nvSpPr>
        <p:spPr>
          <a:xfrm>
            <a:off x="5669280" y="1508760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Color-coded per sound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Fire=Red, Door=Blue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Baby=Yellow</a:t>
            </a:r>
            <a:endParaRPr lang="en-US" sz="1000" dirty="0"/>
          </a:p>
        </p:txBody>
      </p:sp>
      <p:sp>
        <p:nvSpPr>
          <p:cNvPr id="17" name="Shape 13"/>
          <p:cNvSpPr/>
          <p:nvPr/>
        </p:nvSpPr>
        <p:spPr>
          <a:xfrm>
            <a:off x="457200" y="2606040"/>
            <a:ext cx="3931920" cy="1325880"/>
          </a:xfrm>
          <a:prstGeom prst="rect">
            <a:avLst/>
          </a:prstGeom>
          <a:solidFill>
            <a:srgbClr val="F7F9FC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457200" y="2606040"/>
            <a:ext cx="54864" cy="1325880"/>
          </a:xfrm>
          <a:prstGeom prst="rect">
            <a:avLst/>
          </a:prstGeom>
          <a:solidFill>
            <a:srgbClr val="0D9488"/>
          </a:solidFill>
          <a:ln/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2788920"/>
            <a:ext cx="502920" cy="50292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1371600" y="26974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Smartphone Alert</a:t>
            </a:r>
            <a:endParaRPr lang="en-US" sz="1300" dirty="0"/>
          </a:p>
        </p:txBody>
      </p:sp>
      <p:sp>
        <p:nvSpPr>
          <p:cNvPr id="21" name="Text 16"/>
          <p:cNvSpPr/>
          <p:nvPr/>
        </p:nvSpPr>
        <p:spPr>
          <a:xfrm>
            <a:off x="1371600" y="3063240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 + vibration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Sound type, location, time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Remote monitoring</a:t>
            </a:r>
            <a:endParaRPr lang="en-US" sz="1000" dirty="0"/>
          </a:p>
        </p:txBody>
      </p:sp>
      <p:sp>
        <p:nvSpPr>
          <p:cNvPr id="22" name="Shape 17"/>
          <p:cNvSpPr/>
          <p:nvPr/>
        </p:nvSpPr>
        <p:spPr>
          <a:xfrm>
            <a:off x="4754880" y="2606040"/>
            <a:ext cx="3931920" cy="1325880"/>
          </a:xfrm>
          <a:prstGeom prst="rect">
            <a:avLst/>
          </a:prstGeom>
          <a:solidFill>
            <a:srgbClr val="F7F9FC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4754880" y="2606040"/>
            <a:ext cx="54864" cy="1325880"/>
          </a:xfrm>
          <a:prstGeom prst="rect">
            <a:avLst/>
          </a:prstGeom>
          <a:solidFill>
            <a:srgbClr val="3498DB"/>
          </a:solidFill>
          <a:ln/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0" y="2788920"/>
            <a:ext cx="502920" cy="502920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5669280" y="26974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Detection Dashboard</a:t>
            </a:r>
            <a:endParaRPr lang="en-US" sz="1300" dirty="0"/>
          </a:p>
        </p:txBody>
      </p:sp>
      <p:sp>
        <p:nvSpPr>
          <p:cNvPr id="26" name="Text 20"/>
          <p:cNvSpPr/>
          <p:nvPr/>
        </p:nvSpPr>
        <p:spPr>
          <a:xfrm>
            <a:off x="5669280" y="3063240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history viewer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Time-based statistics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Device management</a:t>
            </a:r>
            <a:endParaRPr lang="en-US" sz="1000" dirty="0"/>
          </a:p>
        </p:txBody>
      </p:sp>
      <p:sp>
        <p:nvSpPr>
          <p:cNvPr id="27" name="Shape 21"/>
          <p:cNvSpPr/>
          <p:nvPr/>
        </p:nvSpPr>
        <p:spPr>
          <a:xfrm>
            <a:off x="457200" y="4160520"/>
            <a:ext cx="8229600" cy="457200"/>
          </a:xfrm>
          <a:prstGeom prst="rect">
            <a:avLst/>
          </a:prstGeom>
          <a:solidFill>
            <a:srgbClr val="EEF2F7"/>
          </a:solidFill>
          <a:ln/>
        </p:spPr>
      </p:sp>
      <p:sp>
        <p:nvSpPr>
          <p:cNvPr id="28" name="Text 22"/>
          <p:cNvSpPr/>
          <p:nvPr/>
        </p:nvSpPr>
        <p:spPr>
          <a:xfrm>
            <a:off x="457200" y="416052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B57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900" dirty="0"/>
          </a:p>
        </p:txBody>
      </p:sp>
      <p:sp>
        <p:nvSpPr>
          <p:cNvPr id="29" name="Text 23"/>
          <p:cNvSpPr/>
          <p:nvPr/>
        </p:nvSpPr>
        <p:spPr>
          <a:xfrm>
            <a:off x="1371600" y="416052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B57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TensorFlow</a:t>
            </a:r>
            <a:endParaRPr lang="en-US" sz="900" dirty="0"/>
          </a:p>
        </p:txBody>
      </p:sp>
      <p:sp>
        <p:nvSpPr>
          <p:cNvPr id="30" name="Text 24"/>
          <p:cNvSpPr/>
          <p:nvPr/>
        </p:nvSpPr>
        <p:spPr>
          <a:xfrm>
            <a:off x="2286000" y="416052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B57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YAMNet</a:t>
            </a:r>
            <a:endParaRPr lang="en-US" sz="900" dirty="0"/>
          </a:p>
        </p:txBody>
      </p:sp>
      <p:sp>
        <p:nvSpPr>
          <p:cNvPr id="31" name="Text 25"/>
          <p:cNvSpPr/>
          <p:nvPr/>
        </p:nvSpPr>
        <p:spPr>
          <a:xfrm>
            <a:off x="3200400" y="416052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B57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TFLite</a:t>
            </a:r>
            <a:endParaRPr lang="en-US" sz="900" dirty="0"/>
          </a:p>
        </p:txBody>
      </p:sp>
      <p:sp>
        <p:nvSpPr>
          <p:cNvPr id="32" name="Text 26"/>
          <p:cNvSpPr/>
          <p:nvPr/>
        </p:nvSpPr>
        <p:spPr>
          <a:xfrm>
            <a:off x="4114800" y="416052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B57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MQTT</a:t>
            </a:r>
            <a:endParaRPr lang="en-US" sz="900" dirty="0"/>
          </a:p>
        </p:txBody>
      </p:sp>
      <p:sp>
        <p:nvSpPr>
          <p:cNvPr id="33" name="Text 27"/>
          <p:cNvSpPr/>
          <p:nvPr/>
        </p:nvSpPr>
        <p:spPr>
          <a:xfrm>
            <a:off x="5029200" y="416052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B57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Firebase</a:t>
            </a:r>
            <a:endParaRPr lang="en-US" sz="900" dirty="0"/>
          </a:p>
        </p:txBody>
      </p:sp>
      <p:sp>
        <p:nvSpPr>
          <p:cNvPr id="34" name="Text 28"/>
          <p:cNvSpPr/>
          <p:nvPr/>
        </p:nvSpPr>
        <p:spPr>
          <a:xfrm>
            <a:off x="5943600" y="416052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B57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</a:t>
            </a:r>
            <a:endParaRPr lang="en-US" sz="900" dirty="0"/>
          </a:p>
        </p:txBody>
      </p:sp>
      <p:sp>
        <p:nvSpPr>
          <p:cNvPr id="35" name="Text 29"/>
          <p:cNvSpPr/>
          <p:nvPr/>
        </p:nvSpPr>
        <p:spPr>
          <a:xfrm>
            <a:off x="6858000" y="416052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B57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Flutter</a:t>
            </a:r>
            <a:endParaRPr lang="en-US" sz="900" dirty="0"/>
          </a:p>
        </p:txBody>
      </p:sp>
      <p:sp>
        <p:nvSpPr>
          <p:cNvPr id="36" name="Text 30"/>
          <p:cNvSpPr/>
          <p:nvPr/>
        </p:nvSpPr>
        <p:spPr>
          <a:xfrm>
            <a:off x="7772400" y="416052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B57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Raspberry Pi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F7F9F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77240"/>
            <a:ext cx="9144000" cy="36576"/>
          </a:xfrm>
          <a:prstGeom prst="rect">
            <a:avLst/>
          </a:prstGeom>
          <a:solidFill>
            <a:srgbClr val="3498DB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914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Development Plan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4773168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청각장애인을 위한 가정용 환경음 인식 IoT 알림 시스템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1051560"/>
            <a:ext cx="3840480" cy="365760"/>
          </a:xfrm>
          <a:prstGeom prst="rect">
            <a:avLst/>
          </a:prstGeom>
          <a:solidFill>
            <a:srgbClr val="2B5797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10515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Phase 1: Core Prototype (Apr ~ Jun)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1554480"/>
            <a:ext cx="731520" cy="502920"/>
          </a:xfrm>
          <a:prstGeom prst="rect">
            <a:avLst/>
          </a:prstGeom>
          <a:solidFill>
            <a:srgbClr val="EEF2F7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" y="1554480"/>
            <a:ext cx="731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B579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APR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325880" y="1554480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Environment setup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end-to-end demo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57200" y="2194560"/>
            <a:ext cx="731520" cy="502920"/>
          </a:xfrm>
          <a:prstGeom prst="rect">
            <a:avLst/>
          </a:prstGeom>
          <a:solidFill>
            <a:srgbClr val="EEF2F7"/>
          </a:solidFill>
          <a:ln/>
        </p:spPr>
      </p:sp>
      <p:sp>
        <p:nvSpPr>
          <p:cNvPr id="13" name="Text 11"/>
          <p:cNvSpPr/>
          <p:nvPr/>
        </p:nvSpPr>
        <p:spPr>
          <a:xfrm>
            <a:off x="457200" y="2194560"/>
            <a:ext cx="731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B579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MAY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325880" y="2194560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+ Fine-tuning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notification linked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57200" y="2834640"/>
            <a:ext cx="731520" cy="502920"/>
          </a:xfrm>
          <a:prstGeom prst="rect">
            <a:avLst/>
          </a:prstGeom>
          <a:solidFill>
            <a:srgbClr val="EEF2F7"/>
          </a:solidFill>
          <a:ln/>
        </p:spPr>
      </p:sp>
      <p:sp>
        <p:nvSpPr>
          <p:cNvPr id="16" name="Text 14"/>
          <p:cNvSpPr/>
          <p:nvPr/>
        </p:nvSpPr>
        <p:spPr>
          <a:xfrm>
            <a:off x="457200" y="2834640"/>
            <a:ext cx="731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B579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JUN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325880" y="2834640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 &amp; Stabilize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presentation ready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846320" y="1051560"/>
            <a:ext cx="3840480" cy="36576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9" name="Text 17"/>
          <p:cNvSpPr/>
          <p:nvPr/>
        </p:nvSpPr>
        <p:spPr>
          <a:xfrm>
            <a:off x="4937760" y="10515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Phase 2: Enhancement (Jul ~ Oct)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846320" y="1554480"/>
            <a:ext cx="731520" cy="438912"/>
          </a:xfrm>
          <a:prstGeom prst="rect">
            <a:avLst/>
          </a:prstGeom>
          <a:solidFill>
            <a:srgbClr val="EEF2F7"/>
          </a:solidFill>
          <a:ln/>
        </p:spPr>
      </p:sp>
      <p:sp>
        <p:nvSpPr>
          <p:cNvPr id="21" name="Text 19"/>
          <p:cNvSpPr/>
          <p:nvPr/>
        </p:nvSpPr>
        <p:spPr>
          <a:xfrm>
            <a:off x="4846320" y="1554480"/>
            <a:ext cx="731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JUL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715000" y="1554480"/>
            <a:ext cx="2926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Flutter app + Multi-device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846320" y="2103120"/>
            <a:ext cx="731520" cy="438912"/>
          </a:xfrm>
          <a:prstGeom prst="rect">
            <a:avLst/>
          </a:prstGeom>
          <a:solidFill>
            <a:srgbClr val="EEF2F7"/>
          </a:solidFill>
          <a:ln/>
        </p:spPr>
      </p:sp>
      <p:sp>
        <p:nvSpPr>
          <p:cNvPr id="24" name="Text 22"/>
          <p:cNvSpPr/>
          <p:nvPr/>
        </p:nvSpPr>
        <p:spPr>
          <a:xfrm>
            <a:off x="4846320" y="2103120"/>
            <a:ext cx="731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AUG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715000" y="2103120"/>
            <a:ext cx="2926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Boot + Accuracy ↑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846320" y="2651760"/>
            <a:ext cx="731520" cy="438912"/>
          </a:xfrm>
          <a:prstGeom prst="rect">
            <a:avLst/>
          </a:prstGeom>
          <a:solidFill>
            <a:srgbClr val="EEF2F7"/>
          </a:solidFill>
          <a:ln/>
        </p:spPr>
      </p:sp>
      <p:sp>
        <p:nvSpPr>
          <p:cNvPr id="27" name="Text 25"/>
          <p:cNvSpPr/>
          <p:nvPr/>
        </p:nvSpPr>
        <p:spPr>
          <a:xfrm>
            <a:off x="4846320" y="2651760"/>
            <a:ext cx="731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SEP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715000" y="2651760"/>
            <a:ext cx="2926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integration + Paper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846320" y="3200400"/>
            <a:ext cx="731520" cy="438912"/>
          </a:xfrm>
          <a:prstGeom prst="rect">
            <a:avLst/>
          </a:prstGeom>
          <a:solidFill>
            <a:srgbClr val="EEF2F7"/>
          </a:solidFill>
          <a:ln/>
        </p:spPr>
      </p:sp>
      <p:sp>
        <p:nvSpPr>
          <p:cNvPr id="30" name="Text 28"/>
          <p:cNvSpPr/>
          <p:nvPr/>
        </p:nvSpPr>
        <p:spPr>
          <a:xfrm>
            <a:off x="4846320" y="3200400"/>
            <a:ext cx="731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OCT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5715000" y="3200400"/>
            <a:ext cx="2926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Competition + Demo video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457200" y="3794760"/>
            <a:ext cx="8229600" cy="365760"/>
          </a:xfrm>
          <a:prstGeom prst="rect">
            <a:avLst/>
          </a:prstGeom>
          <a:solidFill>
            <a:srgbClr val="FEF3C7"/>
          </a:solidFill>
          <a:ln/>
        </p:spPr>
      </p:sp>
      <p:sp>
        <p:nvSpPr>
          <p:cNvPr id="33" name="Text 31"/>
          <p:cNvSpPr/>
          <p:nvPr/>
        </p:nvSpPr>
        <p:spPr>
          <a:xfrm>
            <a:off x="548640" y="379476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MVP (Jun): 3 sound types (fire, doorbell, baby) + LED alert on single RPi — demo-ready even if schedule slips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457200" y="4251960"/>
            <a:ext cx="8229600" cy="347472"/>
          </a:xfrm>
          <a:prstGeom prst="rect">
            <a:avLst/>
          </a:prstGeom>
          <a:solidFill>
            <a:srgbClr val="F7F9FC"/>
          </a:solidFill>
          <a:ln/>
        </p:spPr>
      </p:sp>
      <p:sp>
        <p:nvSpPr>
          <p:cNvPr id="35" name="Text 33"/>
          <p:cNvSpPr/>
          <p:nvPr/>
        </p:nvSpPr>
        <p:spPr>
          <a:xfrm>
            <a:off x="548640" y="4251960"/>
            <a:ext cx="8046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Mentor: TBD (after matching)  |  Team: Tue (fixed) + 1 day TBD  |  Tools: GitHub, Notion, Discord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F7F9F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77240"/>
            <a:ext cx="9144000" cy="36576"/>
          </a:xfrm>
          <a:prstGeom prst="rect">
            <a:avLst/>
          </a:prstGeom>
          <a:solidFill>
            <a:srgbClr val="3498DB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914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Team &amp; Expected Outcomes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4773168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청각장애인을 위한 가정용 환경음 인식 IoT 알림 시스템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100584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B579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Team Roles</a:t>
            </a:r>
            <a:endParaRPr lang="en-US" sz="13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71600"/>
          <a:ext cx="3931920" cy="2286000"/>
        </p:xfrm>
        <a:graphic>
          <a:graphicData uri="http://schemas.openxmlformats.org/drawingml/2006/table">
            <a:tbl>
              <a:tblPr/>
              <a:tblGrid>
                <a:gridCol w="914400"/>
                <a:gridCol w="1188720"/>
                <a:gridCol w="1828800"/>
              </a:tblGrid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Member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579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Role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579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Skills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5797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(Lead)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PM + System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Java, C/C++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Frontend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React, Flutter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AI/ML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Python, TF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Hardware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C, RPi GPIO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 + QA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Testing, Docs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4846320" y="100584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B579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Expected Outcomes</a:t>
            </a:r>
            <a:endParaRPr lang="en-US" sz="1300" dirty="0"/>
          </a:p>
        </p:txBody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83480" y="1463040"/>
            <a:ext cx="320040" cy="32004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5440680" y="141732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IoT prototype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(Device + App + Dashboard)</a:t>
            </a:r>
            <a:endParaRPr lang="en-US" sz="1000" dirty="0"/>
          </a:p>
        </p:txBody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3480" y="2011680"/>
            <a:ext cx="320040" cy="32004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5440680" y="196596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Korean household sound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dataset (10 types, 2000+)</a:t>
            </a:r>
            <a:endParaRPr lang="en-US" sz="1000" dirty="0"/>
          </a:p>
        </p:txBody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83480" y="2560320"/>
            <a:ext cx="320040" cy="320040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5440680" y="251460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Paper: Can YAMNet classify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KR sounds at 95%+ on RPi?</a:t>
            </a:r>
            <a:endParaRPr lang="en-US" sz="1000" dirty="0"/>
          </a:p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83480" y="3108960"/>
            <a:ext cx="320040" cy="320040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5440680" y="306324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Hanium Dream-Up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Competition entry</a:t>
            </a:r>
            <a:endParaRPr lang="en-US" sz="1000" dirty="0"/>
          </a:p>
        </p:txBody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83480" y="3657600"/>
            <a:ext cx="320040" cy="320040"/>
          </a:xfrm>
          <a:prstGeom prst="rect">
            <a:avLst/>
          </a:prstGeom>
        </p:spPr>
      </p:pic>
      <p:sp>
        <p:nvSpPr>
          <p:cNvPr id="19" name="Text 11"/>
          <p:cNvSpPr/>
          <p:nvPr/>
        </p:nvSpPr>
        <p:spPr>
          <a:xfrm>
            <a:off x="5440680" y="361188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Open-source repository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(Code + Docs + Dataset)</a:t>
            </a:r>
            <a:endParaRPr lang="en-US" sz="1000" dirty="0"/>
          </a:p>
        </p:txBody>
      </p:sp>
      <p:sp>
        <p:nvSpPr>
          <p:cNvPr id="20" name="Shape 12"/>
          <p:cNvSpPr/>
          <p:nvPr/>
        </p:nvSpPr>
        <p:spPr>
          <a:xfrm>
            <a:off x="457200" y="4069080"/>
            <a:ext cx="8229600" cy="502920"/>
          </a:xfrm>
          <a:prstGeom prst="rect">
            <a:avLst/>
          </a:prstGeom>
          <a:solidFill>
            <a:srgbClr val="F7F9FC"/>
          </a:solidFill>
          <a:ln/>
        </p:spPr>
      </p:sp>
      <p:sp>
        <p:nvSpPr>
          <p:cNvPr id="21" name="Text 13"/>
          <p:cNvSpPr/>
          <p:nvPr/>
        </p:nvSpPr>
        <p:spPr>
          <a:xfrm>
            <a:off x="548640" y="406908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Budget: ~300,000 KRW (Hanium equipment support)  |  Cloud: AWS (Hanium sponsored)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F7F9F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77240"/>
            <a:ext cx="9144000" cy="36576"/>
          </a:xfrm>
          <a:prstGeom prst="rect">
            <a:avLst/>
          </a:prstGeom>
          <a:solidFill>
            <a:srgbClr val="3498DB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914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Expected Impact &amp; Applications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4773168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청각장애인을 위한 가정용 환경음 인식 IoT 알림 시스템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100584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B579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Measurable Impact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1417320"/>
            <a:ext cx="4114800" cy="1005840"/>
          </a:xfrm>
          <a:prstGeom prst="rect">
            <a:avLst/>
          </a:prstGeom>
          <a:solidFill>
            <a:srgbClr val="FEF2F2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554480"/>
            <a:ext cx="411480" cy="41148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188720" y="1463040"/>
            <a:ext cx="3200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 golden time: only 1~2 min</a:t>
            </a:r>
            <a:endParaRPr lang="en-US" sz="12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min delay in perception = flashover exposure</a:t>
            </a:r>
            <a:endParaRPr lang="en-US" sz="12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fatal outcome (NFPA, 2022)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457200" y="2606040"/>
            <a:ext cx="4114800" cy="1005840"/>
          </a:xfrm>
          <a:prstGeom prst="rect">
            <a:avLst/>
          </a:prstGeom>
          <a:solidFill>
            <a:srgbClr val="ECFDF5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2743200"/>
            <a:ext cx="411480" cy="41148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188720" y="2651760"/>
            <a:ext cx="3200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Vibration alarm: 90~100% wake rate</a:t>
            </a:r>
            <a:endParaRPr lang="en-US" sz="12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vs. sound alarm: only 33~57% for deaf</a:t>
            </a:r>
            <a:endParaRPr lang="en-US" sz="12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(Gallaudet University, 2006)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457200" y="3794760"/>
            <a:ext cx="4114800" cy="731520"/>
          </a:xfrm>
          <a:prstGeom prst="rect">
            <a:avLst/>
          </a:prstGeom>
          <a:solidFill>
            <a:srgbClr val="F7F9FC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5" name="Text 11"/>
          <p:cNvSpPr/>
          <p:nvPr/>
        </p:nvSpPr>
        <p:spPr>
          <a:xfrm>
            <a:off x="594360" y="3840480"/>
            <a:ext cx="3840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B57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Scenario: </a:t>
            </a:r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 at 2 AM → RPi detects alarm sound</a:t>
            </a:r>
            <a:endParaRPr lang="en-US" sz="1000" dirty="0"/>
          </a:p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Bedroom LED flashes red + vibration motor</a:t>
            </a:r>
            <a:endParaRPr lang="en-US" sz="1000" dirty="0"/>
          </a:p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Deaf resident wakes within 30 sec → Evacuation</a:t>
            </a:r>
            <a:endParaRPr lang="en-US" sz="1000" dirty="0"/>
          </a:p>
        </p:txBody>
      </p:sp>
      <p:sp>
        <p:nvSpPr>
          <p:cNvPr id="16" name="Text 12"/>
          <p:cNvSpPr/>
          <p:nvPr/>
        </p:nvSpPr>
        <p:spPr>
          <a:xfrm>
            <a:off x="4846320" y="100584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B579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Future Applications</a:t>
            </a:r>
            <a:endParaRPr lang="en-US" sz="1300" dirty="0"/>
          </a:p>
        </p:txBody>
      </p:sp>
      <p:sp>
        <p:nvSpPr>
          <p:cNvPr id="17" name="Shape 13"/>
          <p:cNvSpPr/>
          <p:nvPr/>
        </p:nvSpPr>
        <p:spPr>
          <a:xfrm>
            <a:off x="4846320" y="1417320"/>
            <a:ext cx="3931920" cy="548640"/>
          </a:xfrm>
          <a:prstGeom prst="rect">
            <a:avLst/>
          </a:prstGeom>
          <a:solidFill>
            <a:srgbClr val="F7F9FC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0" y="1508760"/>
            <a:ext cx="320040" cy="32004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5486400" y="141732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Elderly living-alone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 monitoring</a:t>
            </a:r>
            <a:endParaRPr lang="en-US" sz="1050" dirty="0"/>
          </a:p>
        </p:txBody>
      </p:sp>
      <p:sp>
        <p:nvSpPr>
          <p:cNvPr id="20" name="Shape 15"/>
          <p:cNvSpPr/>
          <p:nvPr/>
        </p:nvSpPr>
        <p:spPr>
          <a:xfrm>
            <a:off x="4846320" y="2103120"/>
            <a:ext cx="3931920" cy="548640"/>
          </a:xfrm>
          <a:prstGeom prst="rect">
            <a:avLst/>
          </a:prstGeom>
          <a:solidFill>
            <a:srgbClr val="F7F9FC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0" y="2194560"/>
            <a:ext cx="320040" cy="32004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5486400" y="210312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Apartment noise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monitoring system</a:t>
            </a:r>
            <a:endParaRPr lang="en-US" sz="1050" dirty="0"/>
          </a:p>
        </p:txBody>
      </p:sp>
      <p:sp>
        <p:nvSpPr>
          <p:cNvPr id="23" name="Shape 17"/>
          <p:cNvSpPr/>
          <p:nvPr/>
        </p:nvSpPr>
        <p:spPr>
          <a:xfrm>
            <a:off x="4846320" y="2788920"/>
            <a:ext cx="3931920" cy="548640"/>
          </a:xfrm>
          <a:prstGeom prst="rect">
            <a:avLst/>
          </a:prstGeom>
          <a:solidFill>
            <a:srgbClr val="F7F9FC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pic>
        <p:nvPicPr>
          <p:cNvPr id="2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29200" y="2880360"/>
            <a:ext cx="320040" cy="320040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5486400" y="278892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home integration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(auto ventilation on fire)</a:t>
            </a:r>
            <a:endParaRPr lang="en-US" sz="1050" dirty="0"/>
          </a:p>
        </p:txBody>
      </p:sp>
      <p:sp>
        <p:nvSpPr>
          <p:cNvPr id="26" name="Shape 19"/>
          <p:cNvSpPr/>
          <p:nvPr/>
        </p:nvSpPr>
        <p:spPr>
          <a:xfrm>
            <a:off x="4846320" y="3474720"/>
            <a:ext cx="3931920" cy="548640"/>
          </a:xfrm>
          <a:prstGeom prst="rect">
            <a:avLst/>
          </a:prstGeom>
          <a:solidFill>
            <a:srgbClr val="F7F9FC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pic>
        <p:nvPicPr>
          <p:cNvPr id="2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29200" y="3566160"/>
            <a:ext cx="320040" cy="320040"/>
          </a:xfrm>
          <a:prstGeom prst="rect">
            <a:avLst/>
          </a:prstGeom>
        </p:spPr>
      </p:pic>
      <p:sp>
        <p:nvSpPr>
          <p:cNvPr id="28" name="Text 20"/>
          <p:cNvSpPr/>
          <p:nvPr/>
        </p:nvSpPr>
        <p:spPr>
          <a:xfrm>
            <a:off x="5486400" y="347472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KR sound dataset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research community</a:t>
            </a:r>
            <a:endParaRPr lang="en-US" sz="1050" dirty="0"/>
          </a:p>
        </p:txBody>
      </p:sp>
      <p:sp>
        <p:nvSpPr>
          <p:cNvPr id="29" name="Shape 21"/>
          <p:cNvSpPr/>
          <p:nvPr/>
        </p:nvSpPr>
        <p:spPr>
          <a:xfrm>
            <a:off x="4846320" y="4206240"/>
            <a:ext cx="3931920" cy="365760"/>
          </a:xfrm>
          <a:prstGeom prst="rect">
            <a:avLst/>
          </a:prstGeom>
          <a:solidFill>
            <a:srgbClr val="EEF2F7"/>
          </a:solidFill>
          <a:ln/>
        </p:spPr>
      </p:sp>
      <p:sp>
        <p:nvSpPr>
          <p:cNvPr id="30" name="Text 22"/>
          <p:cNvSpPr/>
          <p:nvPr/>
        </p:nvSpPr>
        <p:spPr>
          <a:xfrm>
            <a:off x="4937760" y="420624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B57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Technical: First KR household sound AI dataset (public) + Low-cost IoT architecture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3498DB"/>
          </a:solidFill>
          <a:ln/>
        </p:spPr>
      </p:sp>
      <p:sp>
        <p:nvSpPr>
          <p:cNvPr id="3" name="Text 1"/>
          <p:cNvSpPr/>
          <p:nvPr/>
        </p:nvSpPr>
        <p:spPr>
          <a:xfrm>
            <a:off x="0" y="1371600"/>
            <a:ext cx="9144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 &amp; A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0" y="256032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 for your attention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0" y="329184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3498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청각장애인을 위한 가정용 환경음 인식 IoT 알림 시스템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0" y="384048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Kyungpook National University, School of Computer Science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IoT-based Household Sound Recognition and Alert System for the Deaf and Hard of Hearing</dc:title>
  <dc:subject>PptxGenJS Presentation</dc:subject>
  <dc:creator>Team</dc:creator>
  <cp:lastModifiedBy>Team</cp:lastModifiedBy>
  <cp:revision>1</cp:revision>
  <dcterms:created xsi:type="dcterms:W3CDTF">2026-03-07T14:41:56Z</dcterms:created>
  <dcterms:modified xsi:type="dcterms:W3CDTF">2026-03-07T14:41:56Z</dcterms:modified>
</cp:coreProperties>
</file>