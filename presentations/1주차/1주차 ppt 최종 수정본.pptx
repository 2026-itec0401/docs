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9144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777240"/>
            <a:ext cx="502920" cy="50292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960120"/>
            <a:ext cx="502920" cy="50292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731520" y="164592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IoT-based Household Sound Recognition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Alert System for the Deaf and Hard of Hearing</a:t>
            </a:r>
            <a:endParaRPr lang="en-US" sz="2600" dirty="0"/>
          </a:p>
        </p:txBody>
      </p:sp>
      <p:sp>
        <p:nvSpPr>
          <p:cNvPr id="7" name="Text 2"/>
          <p:cNvSpPr/>
          <p:nvPr/>
        </p:nvSpPr>
        <p:spPr>
          <a:xfrm>
            <a:off x="731520" y="2880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1600" dirty="0"/>
          </a:p>
        </p:txBody>
      </p:sp>
      <p:sp>
        <p:nvSpPr>
          <p:cNvPr id="8" name="Shape 3"/>
          <p:cNvSpPr/>
          <p:nvPr/>
        </p:nvSpPr>
        <p:spPr>
          <a:xfrm>
            <a:off x="731520" y="3474720"/>
            <a:ext cx="2743200" cy="2743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9" name="Text 4"/>
          <p:cNvSpPr/>
          <p:nvPr/>
        </p:nvSpPr>
        <p:spPr>
          <a:xfrm>
            <a:off x="731520" y="365760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#:  7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TBD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Kyungpook National University, School of Computer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Problem: Sound = Survival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2.2×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9436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fatality rate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working alarms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(NFPA, 2023)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23444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8620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47472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deaf individuals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aged 65+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(MOHW, 2024)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051560"/>
            <a:ext cx="2651760" cy="19202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0972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26.6%</a:t>
            </a:r>
            <a:endParaRPr lang="en-US" sz="3600" dirty="0"/>
          </a:p>
        </p:txBody>
      </p:sp>
      <p:sp>
        <p:nvSpPr>
          <p:cNvPr id="18" name="Text 13"/>
          <p:cNvSpPr/>
          <p:nvPr/>
        </p:nvSpPr>
        <p:spPr>
          <a:xfrm>
            <a:off x="6355080" y="182880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disabled people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(MOHW, 2023)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365760" y="3246120"/>
            <a:ext cx="8412480" cy="123444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0" name="Text 15"/>
          <p:cNvSpPr/>
          <p:nvPr/>
        </p:nvSpPr>
        <p:spPr>
          <a:xfrm>
            <a:off x="594360" y="3337560"/>
            <a:ext cx="7955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deaf individuals, standard fire alarms are effectively non-existent.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are elderly, 26.6% live alone — no one to alert them in emergencies.</a:t>
            </a:r>
            <a:endParaRPr lang="en-US" sz="130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Survey: 355 deaf respondents reported frequent failure to perceive environmental sounds (Lee et al., 2018)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Now: Converging Evidence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051560"/>
            <a:ext cx="265176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801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Policy Signal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Seoul City launched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'Visual Fire Alarm for Deaf'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 2025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Gov't recognizes the gap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no IoT solution deployed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Incheon launched 'Light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Doorbell' for deaf (2025)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051560"/>
            <a:ext cx="2651760" cy="54864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28016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97764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Research Evidence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2044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355-person survey: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sound non-detection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(Lee et al., Rehab Welfare, 2018)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FGI study: #1 daily risk =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'unable to hear danger'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(Lee &amp; Lee, KR Disability, 2017)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alarm: 90~100%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wake rate (Gallaudet, 2006)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126480" y="1051560"/>
            <a:ext cx="2651760" cy="34747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26480" y="1051560"/>
            <a:ext cx="2651760" cy="54864"/>
          </a:xfrm>
          <a:prstGeom prst="rect">
            <a:avLst/>
          </a:prstGeom>
          <a:solidFill>
            <a:srgbClr val="DC262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280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Gap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1783080"/>
            <a:ext cx="21945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AI-based household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IoT system in Korea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Google/Earzz: not optimized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Korean home sounds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(intercom, rice cooker, etc.)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Earzz: €499, not available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Korea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Competitive Landscape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292608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097280"/>
                <a:gridCol w="109728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Multi-room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Classify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 Sounds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LED Alert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Sound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 App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Sorisosan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(Korea)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Smart Band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Earzz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HW Device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iOS/Android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Built-in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(Planned)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IoT +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AI-based household sound classification IoT system exists in Korea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Overview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051560"/>
            <a:ext cx="246888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IoT Device (per room)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6459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4/5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031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68680" y="21031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Microphone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56032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68680" y="2560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 (TFLite)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1752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Strip (WS2812B)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347472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6868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Motor</a:t>
            </a:r>
            <a:endParaRPr lang="en-US" sz="1000" dirty="0"/>
          </a:p>
        </p:txBody>
      </p:sp>
      <p:sp>
        <p:nvSpPr>
          <p:cNvPr id="19" name="Text 12"/>
          <p:cNvSpPr/>
          <p:nvPr/>
        </p:nvSpPr>
        <p:spPr>
          <a:xfrm>
            <a:off x="365760" y="3886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N units (Kitchen, Living, Bedroom)</a:t>
            </a:r>
            <a:endParaRPr lang="en-US" sz="850" dirty="0"/>
          </a:p>
        </p:txBody>
      </p:sp>
      <p:sp>
        <p:nvSpPr>
          <p:cNvPr id="20" name="Shape 13"/>
          <p:cNvSpPr/>
          <p:nvPr/>
        </p:nvSpPr>
        <p:spPr>
          <a:xfrm>
            <a:off x="2834640" y="17373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1" name="Text 14"/>
          <p:cNvSpPr/>
          <p:nvPr/>
        </p:nvSpPr>
        <p:spPr>
          <a:xfrm>
            <a:off x="361188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28346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2834640" y="31089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24" name="Text 17"/>
          <p:cNvSpPr/>
          <p:nvPr/>
        </p:nvSpPr>
        <p:spPr>
          <a:xfrm>
            <a:off x="361188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25" name="Text 18"/>
          <p:cNvSpPr/>
          <p:nvPr/>
        </p:nvSpPr>
        <p:spPr>
          <a:xfrm>
            <a:off x="28346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3794760" y="1051560"/>
            <a:ext cx="192024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0"/>
          <p:cNvSpPr/>
          <p:nvPr/>
        </p:nvSpPr>
        <p:spPr>
          <a:xfrm>
            <a:off x="3886200" y="1143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Cloud Services</a:t>
            </a:r>
            <a:endParaRPr lang="en-US" sz="11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60520" y="1828800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17720" y="178308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 Broker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(Mosquitto)</a:t>
            </a:r>
            <a:endParaRPr lang="en-US" sz="95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0520" y="2926080"/>
            <a:ext cx="365760" cy="36576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4617720" y="288036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(FCM + RT DB)</a:t>
            </a:r>
            <a:endParaRPr lang="en-US" sz="950" dirty="0"/>
          </a:p>
        </p:txBody>
      </p:sp>
      <p:sp>
        <p:nvSpPr>
          <p:cNvPr id="32" name="Shape 23"/>
          <p:cNvSpPr/>
          <p:nvPr/>
        </p:nvSpPr>
        <p:spPr>
          <a:xfrm>
            <a:off x="5806440" y="17373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3" name="Text 24"/>
          <p:cNvSpPr/>
          <p:nvPr/>
        </p:nvSpPr>
        <p:spPr>
          <a:xfrm>
            <a:off x="6583680" y="1600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4" name="Text 25"/>
          <p:cNvSpPr/>
          <p:nvPr/>
        </p:nvSpPr>
        <p:spPr>
          <a:xfrm>
            <a:off x="5806440" y="1463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900" dirty="0"/>
          </a:p>
        </p:txBody>
      </p:sp>
      <p:sp>
        <p:nvSpPr>
          <p:cNvPr id="35" name="Shape 26"/>
          <p:cNvSpPr/>
          <p:nvPr/>
        </p:nvSpPr>
        <p:spPr>
          <a:xfrm>
            <a:off x="5806440" y="3108960"/>
            <a:ext cx="9144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6" name="Text 27"/>
          <p:cNvSpPr/>
          <p:nvPr/>
        </p:nvSpPr>
        <p:spPr>
          <a:xfrm>
            <a:off x="6583680" y="29718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37" name="Text 28"/>
          <p:cNvSpPr/>
          <p:nvPr/>
        </p:nvSpPr>
        <p:spPr>
          <a:xfrm>
            <a:off x="5806440" y="28346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6766560" y="1051560"/>
            <a:ext cx="2103120" cy="329184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9" name="Text 30"/>
          <p:cNvSpPr/>
          <p:nvPr/>
        </p:nvSpPr>
        <p:spPr>
          <a:xfrm>
            <a:off x="6858000" y="11430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Interface</a:t>
            </a:r>
            <a:endParaRPr lang="en-US" sz="11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1828800"/>
            <a:ext cx="365760" cy="36576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7589520" y="17830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 App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(Flutter)</a:t>
            </a:r>
            <a:endParaRPr lang="en-US" sz="950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2926080"/>
            <a:ext cx="365760" cy="3657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7589520" y="28803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(React)</a:t>
            </a:r>
            <a:endParaRPr lang="en-US" sz="950" dirty="0"/>
          </a:p>
        </p:txBody>
      </p:sp>
      <p:sp>
        <p:nvSpPr>
          <p:cNvPr id="44" name="Text 33"/>
          <p:cNvSpPr/>
          <p:nvPr/>
        </p:nvSpPr>
        <p:spPr>
          <a:xfrm>
            <a:off x="274320" y="425196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 →  AI Classification (on-device)  →  LED + Push Alert  →  User Notification</a:t>
            </a:r>
            <a:endParaRPr lang="en-US" sz="1100" dirty="0"/>
          </a:p>
        </p:txBody>
      </p:sp>
      <p:sp>
        <p:nvSpPr>
          <p:cNvPr id="45" name="Text 34"/>
          <p:cNvSpPr/>
          <p:nvPr/>
        </p:nvSpPr>
        <p:spPr>
          <a:xfrm>
            <a:off x="274320" y="4480560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RPi devices subscribe to MQTT — when one detects sound, every room's LED/vibration activates simultaneously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Classification Pipeline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143000"/>
            <a:ext cx="1234440" cy="4572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Microphone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Audio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50876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73736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737360" y="1143000"/>
            <a:ext cx="1234440" cy="4572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14" name="Text 12"/>
          <p:cNvSpPr/>
          <p:nvPr/>
        </p:nvSpPr>
        <p:spPr>
          <a:xfrm>
            <a:off x="178308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16kHz Mono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97180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0" y="1143000"/>
            <a:ext cx="1234440" cy="457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19" name="Text 17"/>
          <p:cNvSpPr/>
          <p:nvPr/>
        </p:nvSpPr>
        <p:spPr>
          <a:xfrm>
            <a:off x="324612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Spectrogram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4612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3484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6344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114300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YAMNet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89788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12648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1143000"/>
            <a:ext cx="123444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7220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KR Sounds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36092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7589520" y="1143000"/>
            <a:ext cx="1234440" cy="14630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589520" y="1143000"/>
            <a:ext cx="1234440" cy="457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4" name="Text 32"/>
          <p:cNvSpPr/>
          <p:nvPr/>
        </p:nvSpPr>
        <p:spPr>
          <a:xfrm>
            <a:off x="7635240" y="128016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35240" y="1920240"/>
            <a:ext cx="1143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&gt;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65760" y="2926080"/>
            <a:ext cx="4023360" cy="15544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02920" y="33832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(Google AudioSet, 521 classes)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layers retrained on KR home sounds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conversion → RPi on-device inference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 80% + self-recorded KR sounds 20%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Eval: </a:t>
            </a:r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Train/Val/Test split, per-class recall, FN rate for emergency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754880" y="2926080"/>
            <a:ext cx="4023360" cy="1554480"/>
          </a:xfrm>
          <a:prstGeom prst="rect">
            <a:avLst/>
          </a:prstGeom>
          <a:solidFill>
            <a:srgbClr val="EEF2F7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4892040" y="3017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Accuracy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892040" y="34290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(fire, gas)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52360" y="3429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95%+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892040" y="3721608"/>
            <a:ext cx="347472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4" name="Shape 42"/>
          <p:cNvSpPr/>
          <p:nvPr/>
        </p:nvSpPr>
        <p:spPr>
          <a:xfrm>
            <a:off x="4892040" y="3721608"/>
            <a:ext cx="3300984" cy="20116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4892040" y="4023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(doorbell, baby, etc.)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45236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3498D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85%+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892040" y="4315968"/>
            <a:ext cx="3474720" cy="20116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8" name="Shape 46"/>
          <p:cNvSpPr/>
          <p:nvPr/>
        </p:nvSpPr>
        <p:spPr>
          <a:xfrm>
            <a:off x="4892040" y="4315968"/>
            <a:ext cx="2953512" cy="201168"/>
          </a:xfrm>
          <a:prstGeom prst="rect">
            <a:avLst/>
          </a:prstGeom>
          <a:solidFill>
            <a:srgbClr val="3498DB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 &amp; Tech Stack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051560"/>
            <a:ext cx="54864" cy="1325880"/>
          </a:xfrm>
          <a:prstGeom prst="rect">
            <a:avLst/>
          </a:prstGeom>
          <a:solidFill>
            <a:srgbClr val="2B5797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344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Sound Classification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7160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 fine-tuned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household sounds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types, on-device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754880" y="105156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051560"/>
            <a:ext cx="54864" cy="132588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23444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69280" y="11430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LED Visual Alert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669280" y="150876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per sound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Fire=Red, Door=Blue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Baby=Yellow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57200" y="260604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7200" y="2606040"/>
            <a:ext cx="54864" cy="132588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7889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7160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 Alert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37160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+ vibration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type, location, time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754880" y="2606040"/>
            <a:ext cx="3931920" cy="132588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54880" y="2606040"/>
            <a:ext cx="54864" cy="1325880"/>
          </a:xfrm>
          <a:prstGeom prst="rect">
            <a:avLst/>
          </a:prstGeom>
          <a:solidFill>
            <a:srgbClr val="3498D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78892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66928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Detection Dashboard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5669280" y="306324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history 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statistics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management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8" name="Text 22"/>
          <p:cNvSpPr/>
          <p:nvPr/>
        </p:nvSpPr>
        <p:spPr>
          <a:xfrm>
            <a:off x="4572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371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22860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YAMNet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32004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41148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50292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59436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68580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77240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Development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051560"/>
            <a:ext cx="3840480" cy="365760"/>
          </a:xfrm>
          <a:prstGeom prst="rect">
            <a:avLst/>
          </a:prstGeom>
          <a:solidFill>
            <a:srgbClr val="2B579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1: Core Prototype (Apr ~ Jun)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5544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15544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end-to-end demo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19456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25880" y="21945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(public 80% + record 20%)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+ App linked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731520" cy="50292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83464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Stabilize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46320" y="1051560"/>
            <a:ext cx="3840480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2: Enhancement (Jul ~ Oct)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155448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5448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JUL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155448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+ Multi-device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10312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210312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715000" y="210312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+ Accuracy ↑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265176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7" name="Text 25"/>
          <p:cNvSpPr/>
          <p:nvPr/>
        </p:nvSpPr>
        <p:spPr>
          <a:xfrm>
            <a:off x="4846320" y="265176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715000" y="265176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+ Paper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200400"/>
            <a:ext cx="731520" cy="438912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3200400"/>
            <a:ext cx="731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OCT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15000" y="3200400"/>
            <a:ext cx="2926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+ Demo video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(Jun): 3 sound types (fire, doorbell, baby) + LED alert on single RPi — demo-ready even if schedule slips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51960"/>
            <a:ext cx="8229600" cy="34747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5" name="Text 33"/>
          <p:cNvSpPr/>
          <p:nvPr/>
        </p:nvSpPr>
        <p:spPr>
          <a:xfrm>
            <a:off x="548640" y="425196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TBD (after matching)  |  Team: Tue (fixed) + 1 day TBD  |  Tools: GitHub, Notion, Discord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&amp; Expected Outcomes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Team Roles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3931920" cy="2286000"/>
        </p:xfrm>
        <a:graphic>
          <a:graphicData uri="http://schemas.openxmlformats.org/drawingml/2006/table">
            <a:tbl>
              <a:tblPr/>
              <a:tblGrid>
                <a:gridCol w="914400"/>
                <a:gridCol w="1188720"/>
                <a:gridCol w="182880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Member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Skills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79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Jang (Lead)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PM + System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Java, C/C++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H. Hong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React, Flutter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J. Oh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Python, TF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W. Jang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C, RPi GPIO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 Jeong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+ QA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Testing, Docs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Outcomes</a:t>
            </a:r>
            <a:endParaRPr lang="en-US" sz="13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3480" y="14630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IoT prototype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(Device + App + Dashboard)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011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4068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household sound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dataset (10 types, 2000+)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2560320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44068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Can YAMNet classify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KR sounds at 95%+ on RPi?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3108960"/>
            <a:ext cx="320040" cy="32004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44068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Hanium Dream-Up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entry</a:t>
            </a:r>
            <a:endParaRPr lang="en-US" sz="10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3657600"/>
            <a:ext cx="320040" cy="32004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44068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(Code + Docs + Dataset)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1" name="Text 13"/>
          <p:cNvSpPr/>
          <p:nvPr/>
        </p:nvSpPr>
        <p:spPr>
          <a:xfrm>
            <a:off x="548640" y="4069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Budget: ~300,000 KRW (Hanium equipment support)  |  Cloud: AWS (Hanium sponsored)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36576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Impact &amp; Applications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Measurable Impact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411480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88720" y="1463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golden time: only 1~2 min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 delay in perception = flashover exposure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fatal outcome (NFPA, 2022)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ECFD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74320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265176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alarm: 90~100% wake rate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sound alarm: only 33~57% for deaf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(Gallaudet University, 2006)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4114800" cy="73152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94360" y="38404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Scenario: </a:t>
            </a:r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at 2 AM → RPi detects alarm sound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Bedroom LED flashes red + vibration motor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Deaf resident wakes within 30 sec → Evacuation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846320" y="1005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579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Applications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846320" y="14173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0876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486400" y="14173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Elderly living-alone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monitoring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846320" y="21031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1031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 noise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system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846320" y="27889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2880360"/>
            <a:ext cx="320040" cy="3200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486400" y="2788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 integration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 ventilation on fire)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846320" y="3474720"/>
            <a:ext cx="3931920" cy="548640"/>
          </a:xfrm>
          <a:prstGeom prst="rect">
            <a:avLst/>
          </a:prstGeom>
          <a:solidFill>
            <a:srgbClr val="F7F9FC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566160"/>
            <a:ext cx="320040" cy="3200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486400" y="34747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KR sound dataset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community</a:t>
            </a:r>
            <a:endParaRPr lang="en-US" sz="1050" dirty="0"/>
          </a:p>
        </p:txBody>
      </p:sp>
      <p:sp>
        <p:nvSpPr>
          <p:cNvPr id="29" name="Shape 21"/>
          <p:cNvSpPr/>
          <p:nvPr/>
        </p:nvSpPr>
        <p:spPr>
          <a:xfrm>
            <a:off x="4846320" y="4206240"/>
            <a:ext cx="3931920" cy="36576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2"/>
          <p:cNvSpPr/>
          <p:nvPr/>
        </p:nvSpPr>
        <p:spPr>
          <a:xfrm>
            <a:off x="4937760" y="42062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57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 First KR household sound AI dataset (public) + Low-cost IoT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3716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 &amp; 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0" y="2560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청각장애인을 위한 가정용 환경음 인식 IoT 알림 시스템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840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Kyungpook National University, School of Computer Science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IoT-based Household Sound Recognition and Alert System for the Deaf and Hard of Hearing</dc:title>
  <dc:subject>PptxGenJS Presentation</dc:subject>
  <dc:creator>Team</dc:creator>
  <cp:lastModifiedBy>Team</cp:lastModifiedBy>
  <cp:revision>1</cp:revision>
  <dcterms:created xsi:type="dcterms:W3CDTF">2026-03-08T04:19:09Z</dcterms:created>
  <dcterms:modified xsi:type="dcterms:W3CDTF">2026-03-08T04:19:09Z</dcterms:modified>
</cp:coreProperties>
</file>